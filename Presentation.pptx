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4" r:id="rId10"/>
    <p:sldId id="265" r:id="rId11"/>
    <p:sldId id="263" r:id="rId12"/>
    <p:sldId id="266" r:id="rId13"/>
    <p:sldId id="267" r:id="rId14"/>
    <p:sldId id="268" r:id="rId15"/>
    <p:sldId id="272" r:id="rId16"/>
    <p:sldId id="271" r:id="rId17"/>
    <p:sldId id="275" r:id="rId18"/>
    <p:sldId id="273" r:id="rId19"/>
    <p:sldId id="274" r:id="rId2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E7CC8B-2886-7558-0CFF-9BCD93835A6C}" v="171" dt="2026-03-12T16:30:01.424"/>
    <p1510:client id="{749CC3F7-4BC7-2F6C-DED3-6C077B215C1D}" v="230" dt="2026-03-12T16:49:55.843"/>
    <p1510:client id="{FC681A82-E6D9-7083-1AE5-2E955DD72ECE}" v="741" dt="2026-03-12T19:10:19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ruizzer/Scriptura-API/blob/main/Scriptura%20API.pdf" TargetMode="External"/><Relationship Id="rId2" Type="http://schemas.openxmlformats.org/officeDocument/2006/relationships/hyperlink" Target="https://github.com/Cruizzer/Scriptura-API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hyperlink" Target="https://github.com/Cruizzer/Scriptura-API/blob/main/technical_document.pdf" TargetMode="External"/><Relationship Id="rId4" Type="http://schemas.openxmlformats.org/officeDocument/2006/relationships/hyperlink" Target="https://github.com/Cruizzer/Scriptura-API/blob/main/API_ENDPOINTS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>
                <a:latin typeface="Book Antiqua"/>
              </a:rPr>
              <a:t>Scriptura</a:t>
            </a:r>
            <a:br>
              <a:rPr lang="en-GB"/>
            </a:b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5358" y="3266396"/>
            <a:ext cx="9352642" cy="1991404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GB" sz="2000">
              <a:latin typeface="Book Antiqua"/>
            </a:endParaRPr>
          </a:p>
          <a:p>
            <a:pPr>
              <a:lnSpc>
                <a:spcPct val="80000"/>
              </a:lnSpc>
            </a:pPr>
            <a:r>
              <a:rPr lang="en-GB" sz="2000">
                <a:solidFill>
                  <a:srgbClr val="000000"/>
                </a:solidFill>
                <a:latin typeface="Book Antiqua"/>
                <a:ea typeface="+mn-lt"/>
                <a:cs typeface="+mn-lt"/>
              </a:rPr>
              <a:t>Turning Scripture from static text into structured, </a:t>
            </a:r>
            <a:r>
              <a:rPr lang="en-GB" sz="2000" err="1">
                <a:solidFill>
                  <a:srgbClr val="000000"/>
                </a:solidFill>
                <a:latin typeface="Book Antiqua"/>
                <a:ea typeface="+mn-lt"/>
                <a:cs typeface="+mn-lt"/>
              </a:rPr>
              <a:t>queryable</a:t>
            </a:r>
            <a:r>
              <a:rPr lang="en-GB" sz="2000">
                <a:solidFill>
                  <a:srgbClr val="000000"/>
                </a:solidFill>
                <a:latin typeface="Book Antiqua"/>
                <a:ea typeface="+mn-lt"/>
                <a:cs typeface="+mn-lt"/>
              </a:rPr>
              <a:t>, and analysable data for study, research, and app integration.</a:t>
            </a:r>
            <a:endParaRPr lang="en-GB" sz="2000">
              <a:latin typeface="Book Antiqua"/>
            </a:endParaRPr>
          </a:p>
          <a:p>
            <a:br>
              <a:rPr lang="en-US" sz="2000"/>
            </a:br>
            <a:endParaRPr lang="en-US" sz="2000">
              <a:latin typeface="Book Antiqua"/>
            </a:endParaRPr>
          </a:p>
          <a:p>
            <a:r>
              <a:rPr lang="en-GB" sz="2000">
                <a:latin typeface="Consolas"/>
              </a:rPr>
              <a:t>Submitted by: Hansel D'Cruz</a:t>
            </a:r>
          </a:p>
          <a:p>
            <a:endParaRPr lang="en-GB" sz="2000"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061C-5267-945F-C9BA-6C9AB8264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Garamond"/>
              </a:rPr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4278-3BAF-429F-819F-4F96497A2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When reading Scripture, many themes in the New Testament echo or fulfil patterns in the Old Testament.</a:t>
            </a:r>
            <a:endParaRPr lang="en-US">
              <a:latin typeface="Garamond"/>
            </a:endParaRPr>
          </a:p>
          <a:p>
            <a:pPr marL="0" indent="0">
              <a:buNone/>
            </a:pPr>
            <a:br>
              <a:rPr lang="en-GB">
                <a:latin typeface="Garamond"/>
                <a:ea typeface="+mn-lt"/>
                <a:cs typeface="+mn-lt"/>
              </a:rPr>
            </a:br>
            <a:r>
              <a:rPr lang="en-GB">
                <a:latin typeface="Garamond"/>
                <a:ea typeface="+mn-lt"/>
                <a:cs typeface="+mn-lt"/>
              </a:rPr>
              <a:t>In practice, it is hard to:</a:t>
            </a:r>
            <a:endParaRPr lang="en-GB">
              <a:latin typeface="Garamond"/>
            </a:endParaRPr>
          </a:p>
          <a:p>
            <a:r>
              <a:rPr lang="en-GB">
                <a:latin typeface="Garamond"/>
                <a:ea typeface="+mn-lt"/>
                <a:cs typeface="+mn-lt"/>
              </a:rPr>
              <a:t>Find a verse when only part of it is remembered.</a:t>
            </a:r>
            <a:endParaRPr lang="en-GB">
              <a:latin typeface="Garamond"/>
            </a:endParaRPr>
          </a:p>
          <a:p>
            <a:r>
              <a:rPr lang="en-GB">
                <a:latin typeface="Garamond"/>
                <a:ea typeface="+mn-lt"/>
                <a:cs typeface="+mn-lt"/>
              </a:rPr>
              <a:t>Recover the full chapter context quickly.</a:t>
            </a:r>
            <a:endParaRPr lang="en-GB">
              <a:latin typeface="Garamond"/>
            </a:endParaRPr>
          </a:p>
          <a:p>
            <a:r>
              <a:rPr lang="en-GB">
                <a:latin typeface="Garamond"/>
                <a:ea typeface="+mn-lt"/>
                <a:cs typeface="+mn-lt"/>
              </a:rPr>
              <a:t>Trace textually similar passages across books.</a:t>
            </a:r>
            <a:endParaRPr lang="en-GB">
              <a:latin typeface="Garamond"/>
            </a:endParaRPr>
          </a:p>
          <a:p>
            <a:r>
              <a:rPr lang="en-GB">
                <a:latin typeface="Garamond"/>
                <a:ea typeface="+mn-lt"/>
                <a:cs typeface="+mn-lt"/>
              </a:rPr>
              <a:t>Organise and group related verses into personal sections.</a:t>
            </a:r>
            <a:endParaRPr lang="en-GB">
              <a:latin typeface="Garamond"/>
            </a:endParaRPr>
          </a:p>
          <a:p>
            <a:endParaRPr lang="en-GB"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2660496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94E77-024D-CE77-7246-3CE4CE048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>
                <a:latin typeface="Garamond"/>
              </a:rPr>
              <a:t>What is</a:t>
            </a:r>
            <a:r>
              <a:rPr lang="en-GB" sz="4000">
                <a:latin typeface="Aptos"/>
              </a:rPr>
              <a:t> </a:t>
            </a:r>
            <a:r>
              <a:rPr lang="en-GB" sz="4500" b="1">
                <a:latin typeface="Book Antiqua"/>
              </a:rPr>
              <a:t>Scriptura</a:t>
            </a:r>
            <a:r>
              <a:rPr lang="en-GB" sz="4500">
                <a:latin typeface="Book Antiqua"/>
              </a:rPr>
              <a:t>?</a:t>
            </a:r>
            <a:endParaRPr lang="en-US" sz="4500">
              <a:latin typeface="Book Antiqu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6A366-9C1B-0AD9-86E3-9999CBD00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A sleek and intelligent API which gives users the ability to:</a:t>
            </a:r>
          </a:p>
          <a:p>
            <a:pPr marL="0" indent="0">
              <a:buNone/>
            </a:pPr>
            <a:endParaRPr lang="en-GB">
              <a:solidFill>
                <a:srgbClr val="000000"/>
              </a:solidFill>
              <a:latin typeface="Garamond"/>
              <a:ea typeface="+mn-lt"/>
              <a:cs typeface="+mn-lt"/>
            </a:endParaRPr>
          </a:p>
          <a:p>
            <a:pPr marL="457200" indent="-457200"/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Search and retrieve verses from partial text.</a:t>
            </a:r>
            <a:endParaRPr lang="en-GB">
              <a:latin typeface="Garamond"/>
            </a:endParaRPr>
          </a:p>
          <a:p>
            <a:pPr marL="457200" indent="-457200"/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Jump from a verse to its full chapter context.</a:t>
            </a:r>
            <a:endParaRPr lang="en-GB">
              <a:latin typeface="Garamond"/>
            </a:endParaRPr>
          </a:p>
          <a:p>
            <a:pPr marL="457200" indent="-457200"/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Discover similar verses/books using lexical similarity analytics.</a:t>
            </a:r>
            <a:endParaRPr lang="en-GB">
              <a:latin typeface="Garamond"/>
            </a:endParaRPr>
          </a:p>
          <a:p>
            <a:pPr marL="457200" indent="-457200"/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Create personal themed collections of relevant passages.</a:t>
            </a:r>
            <a:endParaRPr lang="en-GB">
              <a:latin typeface="Garamond"/>
            </a:endParaRPr>
          </a:p>
          <a:p>
            <a:pPr marL="0" indent="0"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75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6CD6-76F1-5D79-C69B-DF8293D0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>
                <a:solidFill>
                  <a:srgbClr val="000000"/>
                </a:solidFill>
                <a:latin typeface="Garamond"/>
                <a:ea typeface="+mj-lt"/>
                <a:cs typeface="+mj-lt"/>
              </a:rPr>
              <a:t>Solution Overview</a:t>
            </a:r>
            <a:endParaRPr lang="en-US" b="1">
              <a:latin typeface="Garamon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C9137-1676-D975-1F2E-AFDA95C17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latin typeface="Garamond"/>
              </a:rPr>
              <a:t>Architecture:</a:t>
            </a:r>
          </a:p>
          <a:p>
            <a:pPr marL="457200" indent="-457200"/>
            <a:r>
              <a:rPr lang="en-GB">
                <a:solidFill>
                  <a:srgbClr val="000000"/>
                </a:solidFill>
                <a:latin typeface="Garamond"/>
              </a:rPr>
              <a:t>Django</a:t>
            </a:r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 + </a:t>
            </a:r>
            <a:r>
              <a:rPr lang="en-GB">
                <a:solidFill>
                  <a:srgbClr val="000000"/>
                </a:solidFill>
                <a:latin typeface="Garamond"/>
              </a:rPr>
              <a:t>Django REST Framework</a:t>
            </a:r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 API backend.</a:t>
            </a:r>
          </a:p>
          <a:p>
            <a:pPr marL="457200" indent="-457200"/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SQLite-backed relational data model.</a:t>
            </a:r>
          </a:p>
          <a:p>
            <a:pPr marL="457200" indent="-457200"/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Lightweight Vue 3 client.</a:t>
            </a:r>
          </a:p>
          <a:p>
            <a:pPr marL="457200" indent="-457200"/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Google OAuth for login, JWT for API authorization.</a:t>
            </a:r>
          </a:p>
          <a:p>
            <a:pPr marL="457200" indent="-457200"/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OpenAPI/Swagger documented endpoints.</a:t>
            </a:r>
          </a:p>
          <a:p>
            <a:pPr marL="457200" indent="-457200"/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Cached/precomputed analytics for performance</a:t>
            </a:r>
          </a:p>
          <a:p>
            <a:pPr marL="457200" indent="-457200"/>
            <a:endParaRPr lang="en-GB">
              <a:solidFill>
                <a:srgbClr val="000000"/>
              </a:solidFill>
              <a:latin typeface="Garamond"/>
            </a:endParaRPr>
          </a:p>
          <a:p>
            <a:pPr marL="457200" indent="-457200"/>
            <a:endParaRPr lang="en-GB">
              <a:solidFill>
                <a:srgbClr val="000000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3150164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6A55-7910-851D-1DDB-43394F241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Garamond"/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8C082-CA3E-6DAB-9AA2-FF7B85ACA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latin typeface="Garamond"/>
              </a:rPr>
              <a:t>Data is pooled from various sources:</a:t>
            </a:r>
          </a:p>
          <a:p>
            <a:pPr marL="0" indent="0">
              <a:buNone/>
            </a:pPr>
            <a:endParaRPr lang="en-GB">
              <a:latin typeface="Garamond"/>
            </a:endParaRPr>
          </a:p>
          <a:p>
            <a:r>
              <a:rPr lang="en-GB">
                <a:latin typeface="Garamond"/>
              </a:rPr>
              <a:t>Biblical Text + Footnotes: USMF Douay-Rheims 1899 (DRA) from </a:t>
            </a:r>
            <a:r>
              <a:rPr lang="en-GB" err="1">
                <a:latin typeface="Garamond"/>
              </a:rPr>
              <a:t>eBible</a:t>
            </a:r>
            <a:r>
              <a:rPr lang="en-GB">
                <a:latin typeface="Garamond"/>
              </a:rPr>
              <a:t> </a:t>
            </a:r>
          </a:p>
          <a:p>
            <a:r>
              <a:rPr lang="en-GB">
                <a:latin typeface="Garamond"/>
              </a:rPr>
              <a:t>Pericope/Section headers from HuggingFace </a:t>
            </a:r>
          </a:p>
          <a:p>
            <a:r>
              <a:rPr lang="en-GB">
                <a:latin typeface="Garamond"/>
              </a:rPr>
              <a:t>Custom suite of Python ingestion scripts which sanitises, extracts, and standardises the DRA translation in a novel way that does not presently exist online. </a:t>
            </a:r>
          </a:p>
        </p:txBody>
      </p:sp>
      <p:pic>
        <p:nvPicPr>
          <p:cNvPr id="4" name="Graphic 3" descr="eBible.org">
            <a:extLst>
              <a:ext uri="{FF2B5EF4-FFF2-40B4-BE49-F238E27FC236}">
                <a16:creationId xmlns:a16="http://schemas.microsoft.com/office/drawing/2014/main" id="{FD68CD83-D62C-3C20-0322-35FF0564AC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1621" y="3254827"/>
            <a:ext cx="556162" cy="516578"/>
          </a:xfrm>
          <a:prstGeom prst="rect">
            <a:avLst/>
          </a:prstGeom>
        </p:spPr>
      </p:pic>
      <p:pic>
        <p:nvPicPr>
          <p:cNvPr id="5" name="Graphic 4" descr="A yellow emoji with hands on it&#10;&#10;AI-generated content may be incorrect.">
            <a:extLst>
              <a:ext uri="{FF2B5EF4-FFF2-40B4-BE49-F238E27FC236}">
                <a16:creationId xmlns:a16="http://schemas.microsoft.com/office/drawing/2014/main" id="{A80CA81C-7B1A-4258-165A-1AB806AEA5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9933" y="3429696"/>
            <a:ext cx="963882" cy="96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93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299E52-11D4-C9C7-CBDA-0BBA92B75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096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47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95A39E-BB99-5A52-D1D8-423A03866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332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008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 descr="A screenshot of a text box&#10;&#10;AI-generated content may be incorrect.">
            <a:extLst>
              <a:ext uri="{FF2B5EF4-FFF2-40B4-BE49-F238E27FC236}">
                <a16:creationId xmlns:a16="http://schemas.microsoft.com/office/drawing/2014/main" id="{53FB03D5-F0F4-570E-3062-6F2797560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818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507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616CB7-6D31-D96C-3964-F810C0EA3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70668"/>
            <a:ext cx="10905066" cy="411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198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42C23C-E49F-77A7-8EB9-A851B134A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557" b="1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73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5E61E1-7E82-557A-6EF5-E449F48EA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816" b="797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03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92DA0F-7374-2605-35BC-A92B218FA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76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82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6" name="Content Placeholder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164AA1-AD44-8725-E88F-393FDE187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558" b="1104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78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DE325642-B43B-3F95-566B-D4C38D934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393" b="226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218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A45D3-E89C-E7E4-621E-2A6E71A89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326" y="1141711"/>
            <a:ext cx="4243868" cy="284101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300" kern="1200">
                <a:latin typeface="Garamond"/>
              </a:rPr>
              <a:t>Implements DRF </a:t>
            </a:r>
            <a:r>
              <a:rPr lang="en-US" sz="3300" b="1" kern="1200">
                <a:latin typeface="Garamond"/>
              </a:rPr>
              <a:t>pagination </a:t>
            </a:r>
            <a:r>
              <a:rPr lang="en-US" sz="3300" kern="1200">
                <a:latin typeface="Garamond"/>
              </a:rPr>
              <a:t>and structured </a:t>
            </a:r>
            <a:r>
              <a:rPr lang="en-US" sz="3300" b="1" kern="1200">
                <a:latin typeface="Garamond"/>
              </a:rPr>
              <a:t>query parameters</a:t>
            </a:r>
            <a:r>
              <a:rPr lang="en-US" sz="3300" kern="1200">
                <a:latin typeface="Garamond"/>
              </a:rPr>
              <a:t> for scalable analytics access.</a:t>
            </a:r>
            <a:br>
              <a:rPr lang="en-US" sz="3300">
                <a:latin typeface="Garamond"/>
              </a:rPr>
            </a:br>
            <a:br>
              <a:rPr lang="en-US" sz="3300">
                <a:latin typeface="Garamond"/>
              </a:rPr>
            </a:br>
            <a:r>
              <a:rPr lang="en-US" sz="3300">
                <a:latin typeface="Garamond"/>
              </a:rPr>
              <a:t>Access control is handled through </a:t>
            </a:r>
            <a:r>
              <a:rPr lang="en-US" sz="3300" b="1">
                <a:latin typeface="Garamond"/>
              </a:rPr>
              <a:t>Google OAuth</a:t>
            </a:r>
            <a:r>
              <a:rPr lang="en-US" sz="3300">
                <a:latin typeface="Garamond"/>
              </a:rPr>
              <a:t> identity verification and JWT-based authorization for </a:t>
            </a:r>
            <a:r>
              <a:rPr lang="en-US" sz="3300" b="1">
                <a:latin typeface="Garamond"/>
              </a:rPr>
              <a:t>protected </a:t>
            </a:r>
            <a:r>
              <a:rPr lang="en-US" sz="3300">
                <a:latin typeface="Garamond"/>
              </a:rPr>
              <a:t>API routes</a:t>
            </a:r>
            <a:br>
              <a:rPr lang="en-US" sz="3300">
                <a:latin typeface="Garamond"/>
              </a:rPr>
            </a:br>
            <a:endParaRPr lang="en-US" sz="3300" kern="1200">
              <a:latin typeface="Garamond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193FD5-6A49-7562-EA76-F15D42E15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94F967-DB26-352C-E699-76B5C4BF6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1288" y="815009"/>
            <a:ext cx="6559826" cy="524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861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3123029-8794-3EA6-BB7C-594A48DF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414" y="1063481"/>
            <a:ext cx="4506749" cy="2229457"/>
          </a:xfrm>
        </p:spPr>
        <p:txBody>
          <a:bodyPr anchor="b">
            <a:normAutofit/>
          </a:bodyPr>
          <a:lstStyle/>
          <a:p>
            <a:r>
              <a:rPr lang="en-GB" sz="4000">
                <a:latin typeface="Garamond"/>
              </a:rPr>
              <a:t>And... a lot more...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DCE43D-78A2-00D8-1786-15D02FF8FE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873" b="1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33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AF30C-EA48-974E-EA74-74258B7AD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aramond"/>
              </a:rPr>
              <a:t>Git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9445-FD40-6DC7-10CB-C966E3A3E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Garamond"/>
              </a:rPr>
              <a:t>Worked on the project over the course of 2+ weeks, with more intensive development in the final week.</a:t>
            </a:r>
          </a:p>
          <a:p>
            <a:r>
              <a:rPr lang="en-US" dirty="0">
                <a:latin typeface="Garamond"/>
              </a:rPr>
              <a:t>Followed a simple workflow: worked mainly on the main branch without a complex branching strategy.</a:t>
            </a:r>
          </a:p>
          <a:p>
            <a:r>
              <a:rPr lang="en-US" dirty="0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Used </a:t>
            </a:r>
            <a:r>
              <a:rPr lang="en-US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GitHub</a:t>
            </a:r>
            <a:r>
              <a:rPr lang="en-US" dirty="0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 primarily for version tracking, rollback safety, and </a:t>
            </a:r>
            <a:r>
              <a:rPr lang="en-US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documenting development progress.</a:t>
            </a:r>
            <a:endParaRPr lang="en-US">
              <a:solidFill>
                <a:srgbClr val="000000"/>
              </a:solidFill>
              <a:latin typeface="Garamond"/>
            </a:endParaRPr>
          </a:p>
          <a:p>
            <a:endParaRPr lang="en-US" dirty="0">
              <a:latin typeface="Garamond"/>
            </a:endParaRPr>
          </a:p>
          <a:p>
            <a:endParaRPr lang="en-US" dirty="0">
              <a:latin typeface="Garamond"/>
            </a:endParaRPr>
          </a:p>
        </p:txBody>
      </p:sp>
      <p:pic>
        <p:nvPicPr>
          <p:cNvPr id="5" name="Picture 4" descr="Git - Logo Downloads">
            <a:extLst>
              <a:ext uri="{FF2B5EF4-FFF2-40B4-BE49-F238E27FC236}">
                <a16:creationId xmlns:a16="http://schemas.microsoft.com/office/drawing/2014/main" id="{A7905720-FDC3-660F-FCA8-4DB6504E7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716" y="546080"/>
            <a:ext cx="976127" cy="96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58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37A53-7A94-D505-5A43-B47E7557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>
                <a:latin typeface="Garamond"/>
              </a:rPr>
              <a:t>Difficulties and Improvements moving forwards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46F26-3BEC-4BB4-429A-758C9800C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Data ingestion consistency and tweaking data ingestion script.</a:t>
            </a:r>
          </a:p>
          <a:p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Performance on analytics endpoints (used </a:t>
            </a:r>
            <a:r>
              <a:rPr lang="en-GB" b="1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caching </a:t>
            </a:r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to precompute certain graph configurations).</a:t>
            </a:r>
          </a:p>
          <a:p>
            <a:r>
              <a:rPr lang="en-GB" b="1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Authentication </a:t>
            </a:r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integration complexity - using Google Cloud with correct setup (</a:t>
            </a:r>
            <a:r>
              <a:rPr lang="en-GB">
                <a:latin typeface="Garamond"/>
              </a:rPr>
              <a:t>Authorised redirect URIs and the oddities of bugs when testing locally)</a:t>
            </a:r>
            <a:endParaRPr lang="en-GB">
              <a:solidFill>
                <a:srgbClr val="000000"/>
              </a:solidFill>
              <a:latin typeface="Garamond"/>
            </a:endParaRPr>
          </a:p>
          <a:p>
            <a:endParaRPr lang="en-GB">
              <a:solidFill>
                <a:srgbClr val="000000"/>
              </a:solidFill>
              <a:latin typeface="Garamond"/>
            </a:endParaRPr>
          </a:p>
          <a:p>
            <a:pPr marL="0" indent="0">
              <a:buNone/>
            </a:pPr>
            <a:r>
              <a:rPr lang="en-GB">
                <a:solidFill>
                  <a:srgbClr val="000000"/>
                </a:solidFill>
                <a:latin typeface="Garamond"/>
                <a:ea typeface="+mn-lt"/>
                <a:cs typeface="+mn-lt"/>
              </a:rPr>
              <a:t>Next, I would like to extend authentication into full user accounts and add a conversational chat interface for natural-language scripture discovery.</a:t>
            </a:r>
            <a:endParaRPr lang="en-GB">
              <a:solidFill>
                <a:srgbClr val="000000"/>
              </a:solidFill>
              <a:latin typeface="Garamond"/>
            </a:endParaRPr>
          </a:p>
          <a:p>
            <a:endParaRPr lang="en-GB">
              <a:solidFill>
                <a:srgbClr val="000000"/>
              </a:solidFill>
              <a:latin typeface="Garamond"/>
            </a:endParaRPr>
          </a:p>
          <a:p>
            <a:endParaRPr lang="en-GB">
              <a:solidFill>
                <a:srgbClr val="000000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3331199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F4D69-8001-E913-4E95-D8616932F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latin typeface="Garamond"/>
              </a:rPr>
              <a:t>Thank you for listening!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37117-125E-9A55-3A35-3011C133E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83" y="4058631"/>
            <a:ext cx="7778996" cy="2266475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sz="3200" kern="1200">
                <a:latin typeface="Garamond"/>
              </a:rPr>
              <a:t>Q/A Time</a:t>
            </a:r>
          </a:p>
          <a:p>
            <a:pPr marL="0" indent="0">
              <a:buNone/>
            </a:pPr>
            <a:endParaRPr lang="en-US" sz="2400" dirty="0">
              <a:latin typeface="Garamond"/>
            </a:endParaRPr>
          </a:p>
          <a:p>
            <a:pPr marL="0" indent="0">
              <a:buNone/>
            </a:pPr>
            <a:endParaRPr lang="en-US" sz="2400" dirty="0">
              <a:latin typeface="Garamond"/>
            </a:endParaRPr>
          </a:p>
          <a:p>
            <a:pPr marL="0" indent="0">
              <a:buNone/>
            </a:pPr>
            <a:r>
              <a:rPr lang="en-US" sz="2400" dirty="0" err="1">
                <a:latin typeface="Consolas"/>
              </a:rPr>
              <a:t>Github</a:t>
            </a:r>
            <a:r>
              <a:rPr lang="en-US" sz="2400" dirty="0">
                <a:latin typeface="Consolas"/>
              </a:rPr>
              <a:t> Link: </a:t>
            </a:r>
            <a:r>
              <a:rPr lang="en-US" sz="2400" dirty="0">
                <a:latin typeface="Consolas"/>
                <a:ea typeface="+mn-lt"/>
                <a:cs typeface="+mn-lt"/>
                <a:hlinkClick r:id="rId2"/>
              </a:rPr>
              <a:t>https://github.com/Cruizzer/Scriptura-API</a:t>
            </a:r>
            <a:endParaRPr lang="en-US" sz="2400">
              <a:latin typeface="Consola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>
                <a:latin typeface="Consolas"/>
              </a:rPr>
              <a:t>Swagger PDF Docs:</a:t>
            </a:r>
            <a:r>
              <a:rPr lang="en-US" sz="2400" dirty="0">
                <a:latin typeface="Consolas"/>
              </a:rPr>
              <a:t> </a:t>
            </a:r>
            <a:r>
              <a:rPr lang="en-US" sz="2400" dirty="0">
                <a:latin typeface="Consolas"/>
                <a:ea typeface="+mn-lt"/>
                <a:cs typeface="+mn-lt"/>
                <a:hlinkClick r:id="rId3"/>
              </a:rPr>
              <a:t>https://github.com/Cruizzer/Scriptura-API/blob/main/Scriptura%20API.pdf</a:t>
            </a:r>
            <a:endParaRPr lang="en-US" sz="2400">
              <a:latin typeface="Consola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 err="1">
                <a:latin typeface="Consolas"/>
                <a:ea typeface="+mn-lt"/>
                <a:cs typeface="+mn-lt"/>
              </a:rPr>
              <a:t>Github</a:t>
            </a:r>
            <a:r>
              <a:rPr lang="en-US" sz="2400" dirty="0">
                <a:latin typeface="Consolas"/>
                <a:ea typeface="+mn-lt"/>
                <a:cs typeface="+mn-lt"/>
              </a:rPr>
              <a:t> API Docs PDF (Additional): </a:t>
            </a:r>
            <a:r>
              <a:rPr lang="en-US" sz="2400" dirty="0">
                <a:latin typeface="Consolas"/>
                <a:ea typeface="+mn-lt"/>
                <a:cs typeface="+mn-lt"/>
                <a:hlinkClick r:id="rId4"/>
              </a:rPr>
              <a:t>https://github.com/Cruizzer/Scriptura-API/blob/main/API_ENDPOINTS.md</a:t>
            </a:r>
            <a:endParaRPr lang="en-US">
              <a:latin typeface="Consolas"/>
            </a:endParaRPr>
          </a:p>
          <a:p>
            <a:pPr marL="0" indent="0">
              <a:buNone/>
            </a:pPr>
            <a:r>
              <a:rPr lang="en-US" sz="2400">
                <a:latin typeface="Consolas"/>
                <a:ea typeface="+mn-lt"/>
                <a:cs typeface="+mn-lt"/>
              </a:rPr>
              <a:t>Technical Report: </a:t>
            </a:r>
            <a:r>
              <a:rPr lang="en-US" sz="2400" dirty="0">
                <a:latin typeface="Consolas"/>
                <a:ea typeface="+mn-lt"/>
                <a:cs typeface="+mn-lt"/>
                <a:hlinkClick r:id="rId5"/>
              </a:rPr>
              <a:t>https://github.com/Cruizzer/Scriptura-API/blob/main/technical_document.pdf</a:t>
            </a:r>
            <a:endParaRPr lang="en-US">
              <a:latin typeface="Consolas"/>
            </a:endParaRPr>
          </a:p>
          <a:p>
            <a:pPr marL="0" indent="0">
              <a:buNone/>
            </a:pPr>
            <a:endParaRPr lang="en-US" sz="2400" dirty="0">
              <a:latin typeface="Garamond"/>
              <a:ea typeface="+mn-lt"/>
              <a:cs typeface="+mn-lt"/>
            </a:endParaRP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49E55C47-6295-D259-11A1-0499E04CE0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Questions">
            <a:extLst>
              <a:ext uri="{FF2B5EF4-FFF2-40B4-BE49-F238E27FC236}">
                <a16:creationId xmlns:a16="http://schemas.microsoft.com/office/drawing/2014/main" id="{1302E38B-9AA6-4A2B-B373-C5BAB33F8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21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Scriptura </vt:lpstr>
      <vt:lpstr>Problem</vt:lpstr>
      <vt:lpstr>What is Scriptura?</vt:lpstr>
      <vt:lpstr>Solution Overview</vt:lpstr>
      <vt:lpstr>Data Sources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Implements DRF pagination and structured query parameters for scalable analytics access.  Access control is handled through Google OAuth identity verification and JWT-based authorization for protected API routes </vt:lpstr>
      <vt:lpstr>And... a lot more...</vt:lpstr>
      <vt:lpstr>Git Usage</vt:lpstr>
      <vt:lpstr>Difficulties and Improvements moving forwards</vt:lpstr>
      <vt:lpstr>Thank you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53</cp:revision>
  <dcterms:created xsi:type="dcterms:W3CDTF">2026-03-12T11:54:37Z</dcterms:created>
  <dcterms:modified xsi:type="dcterms:W3CDTF">2026-03-12T19:11:10Z</dcterms:modified>
</cp:coreProperties>
</file>